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7_tf1.xml" ContentType="application/vnd.openxmlformats-officedocument.presentationml.notesSlide+xml"/>
  <Override PartName="/ppt/notesSlides/notesSlide7_tf2.xml" ContentType="application/vnd.openxmlformats-officedocument.presentationml.notesSlide+xml"/>
  <Override PartName="/ppt/notesSlides/notesSlide7_tf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>
  <p:sldMasterIdLst>
    <p:sldMasterId id="2147483648" r:id="rId1"/>
    <p:sldMasterId id="2147483650" r:id="rId2"/>
    <p:sldMasterId id="2147483652" r:id="rId3"/>
  </p:sldMasterIdLst>
  <p:notesMasterIdLst>
    <p:notesMasterId r:id="rId18"/>
  </p:notesMasterIdLst>
  <p:sldIdLst>
    <p:sldId id="256" r:id="rId23"/>
    <p:sldId id="257" r:id="rId24"/>
    <p:sldId id="258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18" Type="http://schemas.openxmlformats.org/officeDocument/2006/relationships/notesMaster" Target="notesMasters/notesMaster1.xml" /><Relationship Id="rId3" Type="http://schemas.openxmlformats.org/officeDocument/2006/relationships/slideMaster" Target="slideMasters/slideMaster3.xml" /><Relationship Id="rId21" Type="http://schemas.openxmlformats.org/officeDocument/2006/relationships/theme" Target="theme/theme1.xml" /><Relationship Id="rId2" Type="http://schemas.openxmlformats.org/officeDocument/2006/relationships/slideMaster" Target="slideMasters/slideMaster2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9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slide" Target="slides/slide1.xml" /><Relationship Id="rId24" Type="http://schemas.openxmlformats.org/officeDocument/2006/relationships/slide" Target="slides/slide2.xml" /><Relationship Id="rId25" Type="http://schemas.openxmlformats.org/officeDocument/2006/relationships/slide" Target="slides/slide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7_tf1.xml.rels><?xml version='1.0' encoding='utf-8'?>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7_tf2.xml.rels><?xml version='1.0' encoding='utf-8'?>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7_tf3.xml.rels><?xml version='1.0' encoding='utf-8'?>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_tf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438150"/>
            <a:ext cx="571500" cy="571500"/>
          </a:xfrm>
          <a:prstGeom prst="rect">
            <a:avLst/>
          </a:prstGeom>
        </p:spPr>
      </p:pic>
      <p:sp>
        <p:nvSpPr>
          <p:cNvPr id="4" name="ForgeSight">
            <a:extLst>
              <a:ext uri="{FF2B5EF4-FFF2-40B4-BE49-F238E27FC236}">
                <a16:creationId xmlns:a16="http://schemas.microsoft.com/office/drawing/2014/main" id="{7827DE30-A232-4D4E-B274-180547A58FD7}"/>
              </a:ext>
            </a:extLst>
          </p:cNvPr>
          <p:cNvSpPr>
            <a:spLocks noGrp="1"/>
          </p:cNvSpPr>
          <p:nvPr/>
        </p:nvSpPr>
        <p:spPr>
          <a:xfrm>
            <a:off x="1333500" y="457200"/>
            <a:ext cx="3238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1823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232C"/>
                </a:solidFill>
                <a:latin typeface="Microsoft YaHei"/>
                <a:ea typeface="Microsoft YaHei"/>
                <a:cs typeface="Microsoft YaHei"/>
              </a:rPr>
              <a:t>ForgeSight</a:t>
            </a:r>
          </a:p>
        </p:txBody>
      </p:sp>
      <p:sp>
        <p:nvSpPr>
          <p:cNvPr id="5" name="I N D U S T R I A L  I N T E L L I G E N C E">
            <a:extLst>
              <a:ext uri="{FF2B5EF4-FFF2-40B4-BE49-F238E27FC236}">
                <a16:creationId xmlns:a16="http://schemas.microsoft.com/office/drawing/2014/main" id="{2CE9E3E1-2D45-4FA2-AB05-3FCD588F3483}"/>
              </a:ext>
            </a:extLst>
          </p:cNvPr>
          <p:cNvSpPr>
            <a:spLocks noGrp="1"/>
          </p:cNvSpPr>
          <p:nvPr/>
        </p:nvSpPr>
        <p:spPr>
          <a:xfrm>
            <a:off x="1362075" y="1028700"/>
            <a:ext cx="3714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50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4"/>
                </a:solidFill>
                <a:latin typeface="Microsoft YaHei"/>
                <a:ea typeface="Microsoft YaHei"/>
                <a:cs typeface="Microsoft YaHei"/>
              </a:rPr>
              <a:t>I N D U S T R I A L  I N T E L L I G E N C E</a:t>
            </a:r>
          </a:p>
        </p:txBody>
      </p:sp>
      <p:sp>
        <p:nvSpPr>
          <p:cNvPr id="6" name="2 0 2 6">
            <a:extLst>
              <a:ext uri="{FF2B5EF4-FFF2-40B4-BE49-F238E27FC236}">
                <a16:creationId xmlns:a16="http://schemas.microsoft.com/office/drawing/2014/main" id="{27C0307E-8594-406B-B4EF-02EB6E424CD0}"/>
              </a:ext>
            </a:extLst>
          </p:cNvPr>
          <p:cNvSpPr>
            <a:spLocks noGrp="1"/>
          </p:cNvSpPr>
          <p:nvPr/>
        </p:nvSpPr>
        <p:spPr>
          <a:xfrm>
            <a:off x="11144250" y="6115050"/>
            <a:ext cx="8667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4258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867"/>
                </a:solidFill>
                <a:latin typeface="Microsoft YaHei"/>
                <a:ea typeface="Microsoft YaHei"/>
                <a:cs typeface="Microsoft YaHei"/>
              </a:rPr>
              <a:t>2 0 2 6</a:t>
            </a:r>
          </a:p>
        </p:txBody>
      </p:sp>
      <p:sp>
        <p:nvSpPr>
          <p:cNvPr id="7" name="占位符: ctrTitle">
            <a:extLst>
              <a:ext uri="{FF2B5EF4-FFF2-40B4-BE49-F238E27FC236}">
                <a16:creationId xmlns:a16="http://schemas.microsoft.com/office/drawing/2014/main" id="{592DBA32-24F1-427C-AAD2-AA07A1BEE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964" y="2348633"/>
            <a:ext cx="54483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650" b="1">
                <a:solidFill>
                  <a:srgbClr val="18232C"/>
                </a:solidFill>
                <a:latin typeface="Microsoft YaHei"/>
                <a:ea typeface="Microsoft YaHei"/>
                <a:cs typeface="Microsoft YaHei"/>
              </a:defRPr>
            </a:pPr>
            <a:endParaRPr sz="5400" b="1" dirty="0">
              <a:solidFill>
                <a:srgbClr val="18232C"/>
              </a:solidFill>
              <a:latin typeface="南宋书局体" panose="02000000000000000000" pitchFamily="2" charset="-122"/>
              <a:ea typeface="南宋书局体" panose="02000000000000000000" pitchFamily="2" charset="-122"/>
              <a:cs typeface="Microsoft YaHei"/>
            </a:endParaRPr>
          </a:p>
        </p:txBody>
      </p:sp>
      <p:sp>
        <p:nvSpPr>
          <p:cNvPr id="8" name="占位符: subTitle">
            <a:extLst>
              <a:ext uri="{FF2B5EF4-FFF2-40B4-BE49-F238E27FC236}">
                <a16:creationId xmlns:a16="http://schemas.microsoft.com/office/drawing/2014/main" id="{FBC68C5C-D4F3-4825-BF81-8223AA85B33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28650" y="3009900"/>
            <a:ext cx="57150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650" b="1">
                <a:solidFill>
                  <a:srgbClr val="18232C"/>
                </a:solidFill>
                <a:latin typeface="Microsoft YaHei"/>
                <a:ea typeface="Microsoft YaHei"/>
                <a:cs typeface="Microsoft YaHei"/>
              </a:defRPr>
            </a:pPr>
            <a:endParaRPr sz="4650" b="1" dirty="0">
              <a:solidFill>
                <a:srgbClr val="18232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占位符: body 1">
            <a:extLst>
              <a:ext uri="{FF2B5EF4-FFF2-40B4-BE49-F238E27FC236}">
                <a16:creationId xmlns:a16="http://schemas.microsoft.com/office/drawing/2014/main" id="{EC8DA993-8929-930D-9D71-211D36522A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69" y="4249658"/>
            <a:ext cx="3598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占位符: body 2">
            <a:extLst>
              <a:ext uri="{FF2B5EF4-FFF2-40B4-BE49-F238E27FC236}">
                <a16:creationId xmlns:a16="http://schemas.microsoft.com/office/drawing/2014/main" id="{28104609-A27F-6BA3-D9A1-D25FE3A99A1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04984" y="4790185"/>
            <a:ext cx="3598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11" name="占位符: body 3">
            <a:extLst>
              <a:ext uri="{FF2B5EF4-FFF2-40B4-BE49-F238E27FC236}">
                <a16:creationId xmlns:a16="http://schemas.microsoft.com/office/drawing/2014/main" id="{F51E1ACA-A7D6-FB58-2014-DF204AF9C952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725813" y="5376761"/>
            <a:ext cx="3598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3253ADAF-8064-C174-F065-24C7F533DB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6C52A789-A41E-524F-2AEA-668CAC99EB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3B053EF1-A930-E098-16D0-E09E81B432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7_tf1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2.png" /></Relationships>
</file>

<file path=ppt/slides/_rels/slide2.xml.rels><?xml version='1.0' encoding='utf-8'?>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7_tf2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2.png" /></Relationships>
</file>

<file path=ppt/slides/_rels/slide3.xml.rels><?xml version='1.0' encoding='utf-8'?>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7_tf3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2450" y="28575"/>
            <a:ext cx="419100" cy="419100"/>
          </a:xfrm>
          <a:prstGeom prst="rect">
            <a:avLst/>
          </a:prstGeom>
        </p:spPr>
      </p:pic>
      <p:sp>
        <p:nvSpPr>
          <p:cNvPr id="3" name="品牌字标">
            <a:extLst>
              <a:ext uri="{FF2B5EF4-FFF2-40B4-BE49-F238E27FC236}">
                <a16:creationId id="{5E196E01-C58D-467F-8EBB-1B324ACA6E25}"/>
              </a:ext>
            </a:extLst>
          </p:cNvPr>
          <p:cNvSpPr>
            <a:spLocks noGrp="1"/>
          </p:cNvSpPr>
          <p:nvPr/>
        </p:nvSpPr>
        <p:spPr>
          <a:xfrm>
            <a:off x="1076325" y="85725"/>
            <a:ext cx="18573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buNone/>
              <a:defRPr sz="19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ForgeSight</a:t>
            </a:r>
          </a:p>
        </p:txBody>
      </p:sp>
      <p:sp>
        <p:nvSpPr>
          <p:cNvPr id="4" name="导航 · 背景与目标">
            <a:extLst>
              <a:ext uri="{FF2B5EF4-FFF2-40B4-BE49-F238E27FC236}">
                <a16:creationId id="{BC94F09F-18D2-40BA-B6A3-58F54376596D}"/>
              </a:ext>
            </a:extLst>
          </p:cNvPr>
          <p:cNvSpPr>
            <a:spLocks noGrp="1"/>
          </p:cNvSpPr>
          <p:nvPr/>
        </p:nvSpPr>
        <p:spPr>
          <a:xfrm>
            <a:off x="3143250" y="142875"/>
            <a:ext cx="11239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背景与目标</a:t>
            </a:r>
          </a:p>
        </p:txBody>
      </p:sp>
      <p:sp>
        <p:nvSpPr>
          <p:cNvPr id="5" name="导航 · 产品服务">
            <a:extLst>
              <a:ext uri="{FF2B5EF4-FFF2-40B4-BE49-F238E27FC236}">
                <a16:creationId id="{00DF964D-CF0A-4635-AFF3-CD4D4AA613D6}"/>
              </a:ext>
            </a:extLst>
          </p:cNvPr>
          <p:cNvSpPr>
            <a:spLocks noGrp="1"/>
          </p:cNvSpPr>
          <p:nvPr/>
        </p:nvSpPr>
        <p:spPr>
          <a:xfrm>
            <a:off x="4267200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产品服务</a:t>
            </a:r>
          </a:p>
        </p:txBody>
      </p:sp>
      <p:sp>
        <p:nvSpPr>
          <p:cNvPr id="6" name="导航 · 产品特色">
            <a:extLst>
              <a:ext uri="{FF2B5EF4-FFF2-40B4-BE49-F238E27FC236}">
                <a16:creationId id="{0ECF765B-B5E1-4E3E-99E9-8F1788A574F2}"/>
              </a:ext>
            </a:extLst>
          </p:cNvPr>
          <p:cNvSpPr>
            <a:spLocks noGrp="1"/>
          </p:cNvSpPr>
          <p:nvPr/>
        </p:nvSpPr>
        <p:spPr>
          <a:xfrm>
            <a:off x="5191125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1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产品特色</a:t>
            </a:r>
          </a:p>
        </p:txBody>
      </p:sp>
      <p:sp>
        <p:nvSpPr>
          <p:cNvPr id="7" name="导航 · 技术路线">
            <a:extLst>
              <a:ext uri="{FF2B5EF4-FFF2-40B4-BE49-F238E27FC236}">
                <a16:creationId id="{85D22CC4-074D-4708-AC67-DF37B426A1FC}"/>
              </a:ext>
            </a:extLst>
          </p:cNvPr>
          <p:cNvSpPr>
            <a:spLocks noGrp="1"/>
          </p:cNvSpPr>
          <p:nvPr/>
        </p:nvSpPr>
        <p:spPr>
          <a:xfrm>
            <a:off x="6115050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8" name="导航 · 团队合作展示">
            <a:extLst>
              <a:ext uri="{FF2B5EF4-FFF2-40B4-BE49-F238E27FC236}">
                <a16:creationId id="{BE461896-5760-4809-BD6F-CB95562E0674}"/>
              </a:ext>
            </a:extLst>
          </p:cNvPr>
          <p:cNvSpPr>
            <a:spLocks noGrp="1"/>
          </p:cNvSpPr>
          <p:nvPr/>
        </p:nvSpPr>
        <p:spPr>
          <a:xfrm>
            <a:off x="7038975" y="142875"/>
            <a:ext cx="1304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团队合作展示</a:t>
            </a:r>
          </a:p>
        </p:txBody>
      </p:sp>
      <p:sp>
        <p:nvSpPr>
          <p:cNvPr id="9" name="导航 · 成本模型和可行性分析">
            <a:extLst>
              <a:ext uri="{FF2B5EF4-FFF2-40B4-BE49-F238E27FC236}">
                <a16:creationId id="{D8541A1A-2970-4502-9891-116DFF286250}"/>
              </a:ext>
            </a:extLst>
          </p:cNvPr>
          <p:cNvSpPr>
            <a:spLocks noGrp="1"/>
          </p:cNvSpPr>
          <p:nvPr/>
        </p:nvSpPr>
        <p:spPr>
          <a:xfrm>
            <a:off x="8343900" y="142875"/>
            <a:ext cx="23336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成本模型和可行性分析</a:t>
            </a:r>
          </a:p>
        </p:txBody>
      </p:sp>
      <p:sp>
        <p:nvSpPr>
          <p:cNvPr id="10" name="当前章节 · 产品特色">
            <a:extLst>
              <a:ext uri="{FF2B5EF4-FFF2-40B4-BE49-F238E27FC236}">
                <a16:creationId id="{CCAA25BB-C4FF-4042-B945-0DFA10749F9C}"/>
              </a:ext>
            </a:extLst>
          </p:cNvPr>
          <p:cNvSpPr>
            <a:spLocks noGrp="1"/>
          </p:cNvSpPr>
          <p:nvPr/>
        </p:nvSpPr>
        <p:spPr>
          <a:xfrm>
            <a:off x="5291138" y="438150"/>
            <a:ext cx="723900" cy="19050"/>
          </a:xfrm>
          <a:prstGeom prst="rect">
            <a:avLst/>
          </a:prstGeom>
          <a:solidFill>
            <a:srgbClr val="1268F6"/>
          </a:solidFill>
          <a:ln w="0"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73227" y="751999"/>
            <a:ext cx="603554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3.2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40002" y="751999"/>
            <a:ext cx="2028292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智能异常监控</a:t>
            </a:r>
          </a:p>
        </p:txBody>
      </p:sp>
      <p:sp>
        <p:nvSpPr>
          <p:cNvPr id="24" name="Line 24"/>
          <p:cNvSpPr/>
          <p:nvPr/>
        </p:nvSpPr>
        <p:spPr>
          <a:xfrm>
            <a:off x="666750" y="1228725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11430">
            <a:solidFill>
              <a:srgbClr val="A8C9D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47700" y="1438275"/>
            <a:ext cx="4819650" cy="1562100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47700" y="3143250"/>
            <a:ext cx="4819650" cy="24288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629275" y="1438275"/>
            <a:ext cx="5905500" cy="4133850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11149" y="1573054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sp>
        <p:nvSpPr>
          <p:cNvPr id="29" name="Line 29"/>
          <p:cNvSpPr/>
          <p:nvPr/>
        </p:nvSpPr>
        <p:spPr>
          <a:xfrm>
            <a:off x="819150" y="1847850"/>
            <a:ext cx="4448175" cy="9525"/>
          </a:xfrm>
          <a:custGeom>
            <a:avLst/>
            <a:gdLst/>
            <a:ahLst/>
            <a:cxnLst/>
            <a:rect l="l" t="t" r="r" b="b"/>
            <a:pathLst>
              <a:path w="4448175" h="9525">
                <a:moveTo>
                  <a:pt x="0" y="0"/>
                </a:moveTo>
                <a:lnTo>
                  <a:pt x="4448175" y="0"/>
                </a:lnTo>
              </a:path>
            </a:pathLst>
          </a:custGeom>
          <a:noFill/>
          <a:ln w="9525">
            <a:solidFill>
              <a:srgbClr val="DBE8F1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12292" y="2025968"/>
            <a:ext cx="4011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连续监测数据断流、工序良率下降和非计划停机。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2292" y="2311718"/>
            <a:ext cx="36484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异常出现后通知责任人，呈现趋势、样本量、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2292" y="2597468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数据截至时间与恢复状态。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1149" y="3278029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底层实现</a:t>
            </a:r>
          </a:p>
        </p:txBody>
      </p:sp>
      <p:sp>
        <p:nvSpPr>
          <p:cNvPr id="34" name="Line 34"/>
          <p:cNvSpPr/>
          <p:nvPr/>
        </p:nvSpPr>
        <p:spPr>
          <a:xfrm>
            <a:off x="819150" y="3552825"/>
            <a:ext cx="4448175" cy="9525"/>
          </a:xfrm>
          <a:custGeom>
            <a:avLst/>
            <a:gdLst/>
            <a:ahLst/>
            <a:cxnLst/>
            <a:rect l="l" t="t" r="r" b="b"/>
            <a:pathLst>
              <a:path w="4448175" h="9525">
                <a:moveTo>
                  <a:pt x="0" y="0"/>
                </a:moveTo>
                <a:lnTo>
                  <a:pt x="4448175" y="0"/>
                </a:lnTo>
              </a:path>
            </a:pathLst>
          </a:custGeom>
          <a:noFill/>
          <a:ln w="9525">
            <a:solidFill>
              <a:srgbClr val="DBE8F1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790575" y="369570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75946" y="37661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74432" y="3734991"/>
            <a:ext cx="3540379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规则绑定：从受控模板选字段，验证后发布。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90575" y="419100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75946" y="42614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74432" y="4230291"/>
            <a:ext cx="3364027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周期评估：只读查询，以确定性规则判断。</a:t>
            </a:r>
          </a:p>
        </p:txBody>
      </p:sp>
      <p:sp>
        <p:nvSpPr>
          <p:cNvPr id="41" name="Rectangle 41"/>
          <p:cNvSpPr/>
          <p:nvPr/>
        </p:nvSpPr>
        <p:spPr>
          <a:xfrm>
            <a:off x="790575" y="468630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75946" y="47567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74432" y="4725591"/>
            <a:ext cx="3364027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状态与投递：留存证据，记录触发、持续、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74432" y="4982766"/>
            <a:ext cx="2789718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恢复，并通过站内消息或 IM 通知。</a:t>
            </a:r>
          </a:p>
        </p:txBody>
      </p:sp>
      <p:sp>
        <p:nvSpPr>
          <p:cNvPr id="45" name="Line 45"/>
          <p:cNvSpPr/>
          <p:nvPr/>
        </p:nvSpPr>
        <p:spPr>
          <a:xfrm>
            <a:off x="685800" y="576262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B2CCDD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25805" y="5886450"/>
            <a:ext cx="52654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577D"/>
                </a:solidFill>
                <a:latin typeface="Microsoft YaHei"/>
                <a:ea typeface="Microsoft YaHei"/>
                <a:cs typeface="Microsoft YaHei"/>
              </a:rPr>
              <a:t>从一次性查询延伸到持续监测，让异常与恢复都有据可查。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887974" y="1582579"/>
            <a:ext cx="2568397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异常生命周期（趋势示意）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899785" y="1907381"/>
            <a:ext cx="4637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36678"/>
                </a:solidFill>
                <a:latin typeface="Microsoft YaHei"/>
                <a:ea typeface="Microsoft YaHei"/>
                <a:cs typeface="Microsoft YaHei"/>
              </a:rPr>
              <a:t>监控值</a:t>
            </a:r>
          </a:p>
        </p:txBody>
      </p:sp>
      <p:sp>
        <p:nvSpPr>
          <p:cNvPr id="49" name="Line 49"/>
          <p:cNvSpPr/>
          <p:nvPr/>
        </p:nvSpPr>
        <p:spPr>
          <a:xfrm>
            <a:off x="6181725" y="2171700"/>
            <a:ext cx="9525" cy="1733550"/>
          </a:xfrm>
          <a:custGeom>
            <a:avLst/>
            <a:gdLst/>
            <a:ahLst/>
            <a:cxnLst/>
            <a:rect l="l" t="t" r="r" b="b"/>
            <a:pathLst>
              <a:path w="9525" h="1733550">
                <a:moveTo>
                  <a:pt x="0" y="0"/>
                </a:moveTo>
                <a:lnTo>
                  <a:pt x="0" y="1733550"/>
                </a:lnTo>
              </a:path>
            </a:pathLst>
          </a:custGeom>
          <a:noFill/>
          <a:ln w="12382">
            <a:solidFill>
              <a:srgbClr val="9AB9CD"/>
            </a:solidFill>
          </a:ln>
        </p:spPr>
      </p:sp>
      <p:sp>
        <p:nvSpPr>
          <p:cNvPr id="50" name="Line 50"/>
          <p:cNvSpPr/>
          <p:nvPr/>
        </p:nvSpPr>
        <p:spPr>
          <a:xfrm>
            <a:off x="6181725" y="39052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12382">
            <a:solidFill>
              <a:srgbClr val="9AB9CD"/>
            </a:solidFill>
          </a:ln>
        </p:spPr>
      </p:sp>
      <p:sp>
        <p:nvSpPr>
          <p:cNvPr id="51" name="Line 51"/>
          <p:cNvSpPr/>
          <p:nvPr/>
        </p:nvSpPr>
        <p:spPr>
          <a:xfrm>
            <a:off x="6181725" y="29337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13335">
            <a:solidFill>
              <a:srgbClr val="DF6B35"/>
            </a:solidFill>
            <a:custDash>
              <a:ds d="500000" sp="357143"/>
            </a:custDash>
          </a:ln>
        </p:spPr>
      </p:sp>
      <p:sp>
        <p:nvSpPr>
          <p:cNvPr id="52" name="TextBox 52"/>
          <p:cNvSpPr txBox="1"/>
          <p:nvPr/>
        </p:nvSpPr>
        <p:spPr>
          <a:xfrm>
            <a:off x="10468762" y="273605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rgbClr val="DF6B35"/>
                </a:solidFill>
                <a:latin typeface="Microsoft YaHei"/>
                <a:ea typeface="Microsoft YaHei"/>
                <a:cs typeface="Microsoft YaHei"/>
              </a:rPr>
              <a:t>规则阈值</a:t>
            </a:r>
          </a:p>
        </p:txBody>
      </p:sp>
      <p:sp>
        <p:nvSpPr>
          <p:cNvPr id="53" name="Freeform 53"/>
          <p:cNvSpPr/>
          <p:nvPr/>
        </p:nvSpPr>
        <p:spPr>
          <a:xfrm>
            <a:off x="6191250" y="2428875"/>
            <a:ext cx="4857750" cy="895350"/>
          </a:xfrm>
          <a:custGeom>
            <a:avLst/>
            <a:gdLst/>
            <a:ahLst/>
            <a:cxnLst/>
            <a:rect l="l" t="t" r="r" b="b"/>
            <a:pathLst>
              <a:path w="4857750" h="895350">
                <a:moveTo>
                  <a:pt x="0" y="19050"/>
                </a:moveTo>
                <a:lnTo>
                  <a:pt x="809625" y="0"/>
                </a:lnTo>
                <a:lnTo>
                  <a:pt x="1314450" y="114300"/>
                </a:lnTo>
                <a:lnTo>
                  <a:pt x="1676400" y="781050"/>
                </a:lnTo>
                <a:lnTo>
                  <a:pt x="2381250" y="895350"/>
                </a:lnTo>
                <a:lnTo>
                  <a:pt x="3143250" y="790575"/>
                </a:lnTo>
                <a:lnTo>
                  <a:pt x="3676650" y="200025"/>
                </a:lnTo>
                <a:lnTo>
                  <a:pt x="4305300" y="28575"/>
                </a:lnTo>
                <a:lnTo>
                  <a:pt x="4857750" y="9525"/>
                </a:lnTo>
              </a:path>
            </a:pathLst>
          </a:custGeom>
          <a:noFill/>
          <a:ln w="38100" cap="rnd">
            <a:solidFill>
              <a:srgbClr val="0B918D"/>
            </a:solidFill>
            <a:round/>
          </a:ln>
        </p:spPr>
      </p:sp>
      <p:sp>
        <p:nvSpPr>
          <p:cNvPr id="54" name="Ellipse 54"/>
          <p:cNvSpPr/>
          <p:nvPr/>
        </p:nvSpPr>
        <p:spPr>
          <a:xfrm>
            <a:off x="7805738" y="3148012"/>
            <a:ext cx="123825" cy="123825"/>
          </a:xfrm>
          <a:prstGeom prst="ellipse">
            <a:avLst/>
          </a:prstGeom>
          <a:solidFill>
            <a:srgbClr val="DF6B35"/>
          </a:solidFill>
          <a:ln>
            <a:noFill/>
          </a:ln>
        </p:spPr>
      </p:sp>
      <p:sp>
        <p:nvSpPr>
          <p:cNvPr id="55" name="Ellipse 55"/>
          <p:cNvSpPr/>
          <p:nvPr/>
        </p:nvSpPr>
        <p:spPr>
          <a:xfrm>
            <a:off x="9805988" y="2566988"/>
            <a:ext cx="123825" cy="123825"/>
          </a:xfrm>
          <a:prstGeom prst="ellipse">
            <a:avLst/>
          </a:prstGeom>
          <a:solidFill>
            <a:srgbClr val="1268F6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393459" y="4034314"/>
            <a:ext cx="3575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536678"/>
                </a:solidFill>
                <a:latin typeface="Microsoft YaHei"/>
                <a:ea typeface="Microsoft YaHei"/>
                <a:cs typeface="Microsoft YaHei"/>
              </a:rPr>
              <a:t>正常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698384" y="4034314"/>
            <a:ext cx="3575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DF6B35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727084" y="4034314"/>
            <a:ext cx="3575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536678"/>
                </a:solidFill>
                <a:latin typeface="Microsoft YaHei"/>
                <a:ea typeface="Microsoft YaHei"/>
                <a:cs typeface="Microsoft YaHei"/>
              </a:rPr>
              <a:t>持续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060584" y="4034314"/>
            <a:ext cx="3575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60" name="Line 60"/>
          <p:cNvSpPr/>
          <p:nvPr/>
        </p:nvSpPr>
        <p:spPr>
          <a:xfrm>
            <a:off x="5905500" y="440055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E0EAF1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5899023" y="4567714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规则与字段绑定</a:t>
            </a:r>
          </a:p>
        </p:txBody>
      </p:sp>
      <p:sp>
        <p:nvSpPr>
          <p:cNvPr id="62" name="Line 62"/>
          <p:cNvSpPr/>
          <p:nvPr/>
        </p:nvSpPr>
        <p:spPr>
          <a:xfrm>
            <a:off x="7296150" y="4648200"/>
            <a:ext cx="361950" cy="9525"/>
          </a:xfrm>
          <a:custGeom>
            <a:avLst/>
            <a:gdLst/>
            <a:ahLst/>
            <a:cxnLst/>
            <a:rect l="l" t="t" r="r" b="b"/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20002">
            <a:solidFill>
              <a:srgbClr val="1268F6"/>
            </a:solidFill>
          </a:ln>
        </p:spPr>
      </p:sp>
      <p:sp>
        <p:nvSpPr>
          <p:cNvPr id="63" name="Polygon 63"/>
          <p:cNvSpPr/>
          <p:nvPr/>
        </p:nvSpPr>
        <p:spPr>
          <a:xfrm>
            <a:off x="7572375" y="4600575"/>
            <a:ext cx="85725" cy="95250"/>
          </a:xfrm>
          <a:custGeom>
            <a:avLst/>
            <a:gdLst/>
            <a:ahLst/>
            <a:cxnLst/>
            <a:rect l="l" t="t" r="r" b="b"/>
            <a:pathLst>
              <a:path w="85725" h="95250">
                <a:moveTo>
                  <a:pt x="8572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268F6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775448" y="4567714"/>
            <a:ext cx="104683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周期只读评估</a:t>
            </a:r>
          </a:p>
        </p:txBody>
      </p:sp>
      <p:sp>
        <p:nvSpPr>
          <p:cNvPr id="65" name="Line 65"/>
          <p:cNvSpPr/>
          <p:nvPr/>
        </p:nvSpPr>
        <p:spPr>
          <a:xfrm>
            <a:off x="8972550" y="46482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0002">
            <a:solidFill>
              <a:srgbClr val="1268F6"/>
            </a:solidFill>
          </a:ln>
        </p:spPr>
      </p:sp>
      <p:sp>
        <p:nvSpPr>
          <p:cNvPr id="66" name="Polygon 66"/>
          <p:cNvSpPr/>
          <p:nvPr/>
        </p:nvSpPr>
        <p:spPr>
          <a:xfrm>
            <a:off x="9229725" y="4600575"/>
            <a:ext cx="85725" cy="95250"/>
          </a:xfrm>
          <a:custGeom>
            <a:avLst/>
            <a:gdLst/>
            <a:ahLst/>
            <a:cxnLst/>
            <a:rect l="l" t="t" r="r" b="b"/>
            <a:pathLst>
              <a:path w="85725" h="95250">
                <a:moveTo>
                  <a:pt x="8572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268F6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9413748" y="4567714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告警与通知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899404" y="5109210"/>
            <a:ext cx="39331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36678"/>
                </a:solidFill>
                <a:latin typeface="Microsoft YaHei"/>
                <a:ea typeface="Microsoft YaHei"/>
                <a:cs typeface="Microsoft YaHei"/>
              </a:rPr>
              <a:t>触发判断由固定统计规则完成，LLM 不决定是否告警。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900547" y="5362099"/>
            <a:ext cx="18568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36678"/>
                </a:solidFill>
                <a:latin typeface="Microsoft YaHei"/>
                <a:ea typeface="Microsoft YaHei"/>
                <a:cs typeface="Microsoft YaHei"/>
              </a:rPr>
              <a:t>示意曲线不代表真实生产数据。</a:t>
            </a:r>
          </a:p>
        </p:txBody>
      </p:sp>
    </p:spTree>
    <p:extLst>
      <p:ext uri="{BB962C8B-B14F-4D97-AF65-F5344CB8AC3E}">
        <p14:creationId val="1148242810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2450" y="28575"/>
            <a:ext cx="419100" cy="419100"/>
          </a:xfrm>
          <a:prstGeom prst="rect">
            <a:avLst/>
          </a:prstGeom>
        </p:spPr>
      </p:pic>
      <p:sp>
        <p:nvSpPr>
          <p:cNvPr id="3" name="品牌字标">
            <a:extLst>
              <a:ext uri="{FF2B5EF4-FFF2-40B4-BE49-F238E27FC236}">
                <a16:creationId id="{5E196E01-C58D-467F-8EBB-1B324ACA6E25}"/>
              </a:ext>
            </a:extLst>
          </p:cNvPr>
          <p:cNvSpPr>
            <a:spLocks noGrp="1"/>
          </p:cNvSpPr>
          <p:nvPr/>
        </p:nvSpPr>
        <p:spPr>
          <a:xfrm>
            <a:off x="1076325" y="85725"/>
            <a:ext cx="18573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buNone/>
              <a:defRPr sz="19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ForgeSight</a:t>
            </a:r>
          </a:p>
        </p:txBody>
      </p:sp>
      <p:sp>
        <p:nvSpPr>
          <p:cNvPr id="4" name="导航 · 背景与目标">
            <a:extLst>
              <a:ext uri="{FF2B5EF4-FFF2-40B4-BE49-F238E27FC236}">
                <a16:creationId id="{BC94F09F-18D2-40BA-B6A3-58F54376596D}"/>
              </a:ext>
            </a:extLst>
          </p:cNvPr>
          <p:cNvSpPr>
            <a:spLocks noGrp="1"/>
          </p:cNvSpPr>
          <p:nvPr/>
        </p:nvSpPr>
        <p:spPr>
          <a:xfrm>
            <a:off x="3143250" y="142875"/>
            <a:ext cx="11239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背景与目标</a:t>
            </a:r>
          </a:p>
        </p:txBody>
      </p:sp>
      <p:sp>
        <p:nvSpPr>
          <p:cNvPr id="5" name="导航 · 产品服务">
            <a:extLst>
              <a:ext uri="{FF2B5EF4-FFF2-40B4-BE49-F238E27FC236}">
                <a16:creationId id="{00DF964D-CF0A-4635-AFF3-CD4D4AA613D6}"/>
              </a:ext>
            </a:extLst>
          </p:cNvPr>
          <p:cNvSpPr>
            <a:spLocks noGrp="1"/>
          </p:cNvSpPr>
          <p:nvPr/>
        </p:nvSpPr>
        <p:spPr>
          <a:xfrm>
            <a:off x="4267200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产品服务</a:t>
            </a:r>
          </a:p>
        </p:txBody>
      </p:sp>
      <p:sp>
        <p:nvSpPr>
          <p:cNvPr id="6" name="导航 · 产品特色">
            <a:extLst>
              <a:ext uri="{FF2B5EF4-FFF2-40B4-BE49-F238E27FC236}">
                <a16:creationId id="{0ECF765B-B5E1-4E3E-99E9-8F1788A574F2}"/>
              </a:ext>
            </a:extLst>
          </p:cNvPr>
          <p:cNvSpPr>
            <a:spLocks noGrp="1"/>
          </p:cNvSpPr>
          <p:nvPr/>
        </p:nvSpPr>
        <p:spPr>
          <a:xfrm>
            <a:off x="5191125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1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产品特色</a:t>
            </a:r>
          </a:p>
        </p:txBody>
      </p:sp>
      <p:sp>
        <p:nvSpPr>
          <p:cNvPr id="7" name="导航 · 技术路线">
            <a:extLst>
              <a:ext uri="{FF2B5EF4-FFF2-40B4-BE49-F238E27FC236}">
                <a16:creationId id="{85D22CC4-074D-4708-AC67-DF37B426A1FC}"/>
              </a:ext>
            </a:extLst>
          </p:cNvPr>
          <p:cNvSpPr>
            <a:spLocks noGrp="1"/>
          </p:cNvSpPr>
          <p:nvPr/>
        </p:nvSpPr>
        <p:spPr>
          <a:xfrm>
            <a:off x="6115050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8" name="导航 · 团队合作展示">
            <a:extLst>
              <a:ext uri="{FF2B5EF4-FFF2-40B4-BE49-F238E27FC236}">
                <a16:creationId id="{BE461896-5760-4809-BD6F-CB95562E0674}"/>
              </a:ext>
            </a:extLst>
          </p:cNvPr>
          <p:cNvSpPr>
            <a:spLocks noGrp="1"/>
          </p:cNvSpPr>
          <p:nvPr/>
        </p:nvSpPr>
        <p:spPr>
          <a:xfrm>
            <a:off x="7038975" y="142875"/>
            <a:ext cx="1304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团队合作展示</a:t>
            </a:r>
          </a:p>
        </p:txBody>
      </p:sp>
      <p:sp>
        <p:nvSpPr>
          <p:cNvPr id="9" name="导航 · 成本模型和可行性分析">
            <a:extLst>
              <a:ext uri="{FF2B5EF4-FFF2-40B4-BE49-F238E27FC236}">
                <a16:creationId id="{D8541A1A-2970-4502-9891-116DFF286250}"/>
              </a:ext>
            </a:extLst>
          </p:cNvPr>
          <p:cNvSpPr>
            <a:spLocks noGrp="1"/>
          </p:cNvSpPr>
          <p:nvPr/>
        </p:nvSpPr>
        <p:spPr>
          <a:xfrm>
            <a:off x="8343900" y="142875"/>
            <a:ext cx="23336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成本模型和可行性分析</a:t>
            </a:r>
          </a:p>
        </p:txBody>
      </p:sp>
      <p:sp>
        <p:nvSpPr>
          <p:cNvPr id="10" name="当前章节 · 产品特色">
            <a:extLst>
              <a:ext uri="{FF2B5EF4-FFF2-40B4-BE49-F238E27FC236}">
                <a16:creationId id="{CCAA25BB-C4FF-4042-B945-0DFA10749F9C}"/>
              </a:ext>
            </a:extLst>
          </p:cNvPr>
          <p:cNvSpPr>
            <a:spLocks noGrp="1"/>
          </p:cNvSpPr>
          <p:nvPr/>
        </p:nvSpPr>
        <p:spPr>
          <a:xfrm>
            <a:off x="5291138" y="438150"/>
            <a:ext cx="723900" cy="19050"/>
          </a:xfrm>
          <a:prstGeom prst="rect">
            <a:avLst/>
          </a:prstGeom>
          <a:solidFill>
            <a:srgbClr val="1268F6"/>
          </a:solidFill>
          <a:ln w="0"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73227" y="751999"/>
            <a:ext cx="603554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3.4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40002" y="751999"/>
            <a:ext cx="2028292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多数据源适配</a:t>
            </a:r>
          </a:p>
        </p:txBody>
      </p:sp>
      <p:sp>
        <p:nvSpPr>
          <p:cNvPr id="24" name="Line 24"/>
          <p:cNvSpPr/>
          <p:nvPr/>
        </p:nvSpPr>
        <p:spPr>
          <a:xfrm>
            <a:off x="666750" y="1228725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11430">
            <a:solidFill>
              <a:srgbClr val="A8C9D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47700" y="1438275"/>
            <a:ext cx="4819650" cy="1562100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47700" y="3143250"/>
            <a:ext cx="4819650" cy="24288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629275" y="1438275"/>
            <a:ext cx="5905500" cy="4133850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11149" y="1573054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sp>
        <p:nvSpPr>
          <p:cNvPr id="29" name="Line 29"/>
          <p:cNvSpPr/>
          <p:nvPr/>
        </p:nvSpPr>
        <p:spPr>
          <a:xfrm>
            <a:off x="819150" y="1847850"/>
            <a:ext cx="4448175" cy="9525"/>
          </a:xfrm>
          <a:custGeom>
            <a:avLst/>
            <a:gdLst/>
            <a:ahLst/>
            <a:cxnLst/>
            <a:rect l="l" t="t" r="r" b="b"/>
            <a:pathLst>
              <a:path w="4448175" h="9525">
                <a:moveTo>
                  <a:pt x="0" y="0"/>
                </a:moveTo>
                <a:lnTo>
                  <a:pt x="4448175" y="0"/>
                </a:lnTo>
              </a:path>
            </a:pathLst>
          </a:custGeom>
          <a:noFill/>
          <a:ln w="9525">
            <a:solidFill>
              <a:srgbClr val="DBE8F1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12292" y="2025968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企业保留原有数据库，在同一平台登记、扫描、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2292" y="2311718"/>
            <a:ext cx="32849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治理和问析，无需先集中搬迁业务数据。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1149" y="3278029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底层实现</a:t>
            </a:r>
          </a:p>
        </p:txBody>
      </p:sp>
      <p:sp>
        <p:nvSpPr>
          <p:cNvPr id="33" name="Line 33"/>
          <p:cNvSpPr/>
          <p:nvPr/>
        </p:nvSpPr>
        <p:spPr>
          <a:xfrm>
            <a:off x="819150" y="3552825"/>
            <a:ext cx="4448175" cy="9525"/>
          </a:xfrm>
          <a:custGeom>
            <a:avLst/>
            <a:gdLst/>
            <a:ahLst/>
            <a:cxnLst/>
            <a:rect l="l" t="t" r="r" b="b"/>
            <a:pathLst>
              <a:path w="4448175" h="9525">
                <a:moveTo>
                  <a:pt x="0" y="0"/>
                </a:moveTo>
                <a:lnTo>
                  <a:pt x="4448175" y="0"/>
                </a:lnTo>
              </a:path>
            </a:pathLst>
          </a:custGeom>
          <a:noFill/>
          <a:ln w="9525">
            <a:solidFill>
              <a:srgbClr val="DBE8F1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90575" y="367665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75946" y="37471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74432" y="3715941"/>
            <a:ext cx="3893083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适配器注册：统一连接、扫描、方言与执行接口。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90575" y="417195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75946" y="42424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74432" y="4211241"/>
            <a:ext cx="3741188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元数据归一：按租户、数据源和 Schema 隔离。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90575" y="466725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75946" y="47377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74432" y="4706541"/>
            <a:ext cx="3115137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安全执行：方言感知 SQL 经只读校验、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74432" y="4963716"/>
            <a:ext cx="2834970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表白名单、限行、超时与成本门控。</a:t>
            </a:r>
          </a:p>
        </p:txBody>
      </p:sp>
      <p:sp>
        <p:nvSpPr>
          <p:cNvPr id="44" name="Line 44"/>
          <p:cNvSpPr/>
          <p:nvPr/>
        </p:nvSpPr>
        <p:spPr>
          <a:xfrm>
            <a:off x="685800" y="576262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B2CCDD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805" y="5886450"/>
            <a:ext cx="52654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577D"/>
                </a:solidFill>
                <a:latin typeface="Microsoft YaHei"/>
                <a:ea typeface="Microsoft YaHei"/>
                <a:cs typeface="Microsoft YaHei"/>
              </a:rPr>
              <a:t>保留原有数据底座，扩展数据库类型时复用同一问析流程。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887974" y="1582579"/>
            <a:ext cx="19302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统一接入与安全执行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905500" y="2009775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F4F9FD"/>
          </a:solidFill>
          <a:ln w="11430">
            <a:solidFill>
              <a:srgbClr val="BDD7E8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363155" y="2129314"/>
            <a:ext cx="6086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905500" y="2543175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F4F9FD"/>
          </a:solidFill>
          <a:ln w="11430">
            <a:solidFill>
              <a:srgbClr val="BDD7E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133699" y="2662714"/>
            <a:ext cx="106760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905500" y="3076575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F4F9FD"/>
          </a:solidFill>
          <a:ln w="11430">
            <a:solidFill>
              <a:srgbClr val="BDD7E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308918" y="3196114"/>
            <a:ext cx="71716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MariaDB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905500" y="3609975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F4F9FD"/>
          </a:solidFill>
          <a:ln w="11430">
            <a:solidFill>
              <a:srgbClr val="BDD7E8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5953075" y="3745706"/>
            <a:ext cx="14288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SQL Server · beta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905500" y="4143375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F4F9FD"/>
          </a:solidFill>
          <a:ln w="11430">
            <a:solidFill>
              <a:srgbClr val="BDD7E8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6136395" y="4279106"/>
            <a:ext cx="1062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Oracle · beta</a:t>
            </a:r>
          </a:p>
        </p:txBody>
      </p:sp>
      <p:sp>
        <p:nvSpPr>
          <p:cNvPr id="57" name="Line 57"/>
          <p:cNvSpPr/>
          <p:nvPr/>
        </p:nvSpPr>
        <p:spPr>
          <a:xfrm>
            <a:off x="7458075" y="3228975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0002">
            <a:solidFill>
              <a:srgbClr val="1268F6"/>
            </a:solidFill>
          </a:ln>
        </p:spPr>
      </p:sp>
      <p:sp>
        <p:nvSpPr>
          <p:cNvPr id="58" name="Polygon 58"/>
          <p:cNvSpPr/>
          <p:nvPr/>
        </p:nvSpPr>
        <p:spPr>
          <a:xfrm>
            <a:off x="7677150" y="3181350"/>
            <a:ext cx="85725" cy="95250"/>
          </a:xfrm>
          <a:custGeom>
            <a:avLst/>
            <a:gdLst/>
            <a:ahLst/>
            <a:cxnLst/>
            <a:rect l="l" t="t" r="r" b="b"/>
            <a:pathLst>
              <a:path w="85725" h="95250">
                <a:moveTo>
                  <a:pt x="8572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268F6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7781925" y="2752725"/>
            <a:ext cx="1428750" cy="962025"/>
          </a:xfrm>
          <a:prstGeom prst="roundRect">
            <a:avLst>
              <a:gd name="adj" fmla="val 14851"/>
            </a:avLst>
          </a:prstGeom>
          <a:solidFill>
            <a:srgbClr val="EAF3FF"/>
          </a:solidFill>
          <a:ln w="17145">
            <a:solidFill>
              <a:srgbClr val="1268F6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8054903" y="2963704"/>
            <a:ext cx="882793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Adapter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021601" y="3220879"/>
            <a:ext cx="9493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Registry</a:t>
            </a:r>
          </a:p>
        </p:txBody>
      </p:sp>
      <p:sp>
        <p:nvSpPr>
          <p:cNvPr id="62" name="Line 62"/>
          <p:cNvSpPr/>
          <p:nvPr/>
        </p:nvSpPr>
        <p:spPr>
          <a:xfrm>
            <a:off x="9239250" y="3228975"/>
            <a:ext cx="276225" cy="9525"/>
          </a:xfrm>
          <a:custGeom>
            <a:avLst/>
            <a:gdLst/>
            <a:ahLst/>
            <a:cxnLst/>
            <a:rect l="l" t="t" r="r" b="b"/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/>
          <a:ln w="20002">
            <a:solidFill>
              <a:srgbClr val="1268F6"/>
            </a:solidFill>
          </a:ln>
        </p:spPr>
      </p:sp>
      <p:sp>
        <p:nvSpPr>
          <p:cNvPr id="63" name="Polygon 63"/>
          <p:cNvSpPr/>
          <p:nvPr/>
        </p:nvSpPr>
        <p:spPr>
          <a:xfrm>
            <a:off x="9429750" y="3181350"/>
            <a:ext cx="85725" cy="95250"/>
          </a:xfrm>
          <a:custGeom>
            <a:avLst/>
            <a:gdLst/>
            <a:ahLst/>
            <a:cxnLst/>
            <a:rect l="l" t="t" r="r" b="b"/>
            <a:pathLst>
              <a:path w="85725" h="95250">
                <a:moveTo>
                  <a:pt x="8572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268F6"/>
          </a:solidFill>
          <a:ln>
            <a:noFill/>
          </a:ln>
        </p:spPr>
      </p:sp>
      <p:sp>
        <p:nvSpPr>
          <p:cNvPr id="64" name="Rectangle 64"/>
          <p:cNvSpPr/>
          <p:nvPr/>
        </p:nvSpPr>
        <p:spPr>
          <a:xfrm>
            <a:off x="9534525" y="2200275"/>
            <a:ext cx="1724025" cy="866775"/>
          </a:xfrm>
          <a:prstGeom prst="roundRect">
            <a:avLst>
              <a:gd name="adj" fmla="val 13187"/>
            </a:avLst>
          </a:prstGeom>
          <a:solidFill>
            <a:srgbClr val="F4F9FD"/>
          </a:solidFill>
          <a:ln w="12382">
            <a:solidFill>
              <a:srgbClr val="BDD7E8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9811055" y="2408396"/>
            <a:ext cx="116144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统一资源目录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719346" y="2678906"/>
            <a:ext cx="134485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36678"/>
                </a:solidFill>
                <a:latin typeface="Microsoft YaHei"/>
                <a:ea typeface="Microsoft YaHei"/>
                <a:cs typeface="Microsoft YaHei"/>
              </a:rPr>
              <a:t>Schema / 表 / 字段</a:t>
            </a:r>
          </a:p>
        </p:txBody>
      </p:sp>
      <p:sp>
        <p:nvSpPr>
          <p:cNvPr id="67" name="Rectangle 67"/>
          <p:cNvSpPr/>
          <p:nvPr/>
        </p:nvSpPr>
        <p:spPr>
          <a:xfrm>
            <a:off x="9534525" y="3381375"/>
            <a:ext cx="1724025" cy="866775"/>
          </a:xfrm>
          <a:prstGeom prst="roundRect">
            <a:avLst>
              <a:gd name="adj" fmla="val 13187"/>
            </a:avLst>
          </a:prstGeom>
          <a:solidFill>
            <a:srgbClr val="F4F9FD"/>
          </a:solidFill>
          <a:ln w="12382">
            <a:solidFill>
              <a:srgbClr val="BDD7E8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9811055" y="3579971"/>
            <a:ext cx="116144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只读安全网关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774784" y="3860006"/>
            <a:ext cx="12339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36678"/>
                </a:solidFill>
                <a:latin typeface="Microsoft YaHei"/>
                <a:ea typeface="Microsoft YaHei"/>
                <a:cs typeface="Microsoft YaHei"/>
              </a:rPr>
              <a:t>AST / 范围 / 成本</a:t>
            </a:r>
          </a:p>
        </p:txBody>
      </p:sp>
      <p:sp>
        <p:nvSpPr>
          <p:cNvPr id="70" name="Line 70"/>
          <p:cNvSpPr/>
          <p:nvPr/>
        </p:nvSpPr>
        <p:spPr>
          <a:xfrm>
            <a:off x="10391775" y="3067050"/>
            <a:ext cx="9525" cy="314325"/>
          </a:xfrm>
          <a:custGeom>
            <a:avLst/>
            <a:gdLst/>
            <a:ahLst/>
            <a:cxnLst/>
            <a:rect l="l" t="t" r="r" b="b"/>
            <a:pathLst>
              <a:path w="952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/>
          <a:ln w="16192">
            <a:solidFill>
              <a:srgbClr val="1268F6"/>
            </a:solidFill>
          </a:ln>
        </p:spPr>
      </p:sp>
      <p:sp>
        <p:nvSpPr>
          <p:cNvPr id="71" name="Line 71"/>
          <p:cNvSpPr/>
          <p:nvPr/>
        </p:nvSpPr>
        <p:spPr>
          <a:xfrm>
            <a:off x="10391775" y="4248150"/>
            <a:ext cx="9525" cy="247650"/>
          </a:xfrm>
          <a:custGeom>
            <a:avLst/>
            <a:gdLst/>
            <a:ahLst/>
            <a:cxnLst/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20002">
            <a:solidFill>
              <a:srgbClr val="1268F6"/>
            </a:solidFill>
          </a:ln>
        </p:spPr>
      </p:sp>
      <p:sp>
        <p:nvSpPr>
          <p:cNvPr id="72" name="Polygon 72"/>
          <p:cNvSpPr/>
          <p:nvPr/>
        </p:nvSpPr>
        <p:spPr>
          <a:xfrm>
            <a:off x="10344150" y="4410075"/>
            <a:ext cx="95250" cy="85725"/>
          </a:xfrm>
          <a:custGeom>
            <a:avLst/>
            <a:gdLst/>
            <a:ahLst/>
            <a:cxnLst/>
            <a:rect l="l" t="t" r="r" b="b"/>
            <a:pathLst>
              <a:path w="95250" h="85725">
                <a:moveTo>
                  <a:pt x="47625" y="8572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1268F6"/>
          </a:solidFill>
          <a:ln>
            <a:noFill/>
          </a:ln>
        </p:spPr>
      </p:sp>
      <p:sp>
        <p:nvSpPr>
          <p:cNvPr id="73" name="Rectangle 73"/>
          <p:cNvSpPr/>
          <p:nvPr/>
        </p:nvSpPr>
        <p:spPr>
          <a:xfrm>
            <a:off x="9534525" y="4505325"/>
            <a:ext cx="1724025" cy="466725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1430">
            <a:solidFill>
              <a:srgbClr val="1268F6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9883815" y="4656296"/>
            <a:ext cx="10159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Agent 问析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900547" y="5276374"/>
            <a:ext cx="409578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536678"/>
                </a:solidFill>
                <a:latin typeface="Microsoft YaHei"/>
                <a:ea typeface="Microsoft YaHei"/>
                <a:cs typeface="Microsoft YaHei"/>
              </a:rPr>
              <a:t>SQL Server、Oracle 为 beta 适配器；只读权限由数据库账号保证。</a:t>
            </a:r>
          </a:p>
        </p:txBody>
      </p:sp>
    </p:spTree>
    <p:extLst>
      <p:ext uri="{BB962C8B-B14F-4D97-AF65-F5344CB8AC3E}">
        <p14:creationId val="1148242810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2450" y="28575"/>
            <a:ext cx="419100" cy="419100"/>
          </a:xfrm>
          <a:prstGeom prst="rect">
            <a:avLst/>
          </a:prstGeom>
        </p:spPr>
      </p:pic>
      <p:sp>
        <p:nvSpPr>
          <p:cNvPr id="3" name="品牌字标">
            <a:extLst>
              <a:ext uri="{FF2B5EF4-FFF2-40B4-BE49-F238E27FC236}">
                <a16:creationId id="{5E196E01-C58D-467F-8EBB-1B324ACA6E25}"/>
              </a:ext>
            </a:extLst>
          </p:cNvPr>
          <p:cNvSpPr>
            <a:spLocks noGrp="1"/>
          </p:cNvSpPr>
          <p:nvPr/>
        </p:nvSpPr>
        <p:spPr>
          <a:xfrm>
            <a:off x="1076325" y="85725"/>
            <a:ext cx="18573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buNone/>
              <a:defRPr sz="19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ForgeSight</a:t>
            </a:r>
          </a:p>
        </p:txBody>
      </p:sp>
      <p:sp>
        <p:nvSpPr>
          <p:cNvPr id="4" name="导航 · 背景与目标">
            <a:extLst>
              <a:ext uri="{FF2B5EF4-FFF2-40B4-BE49-F238E27FC236}">
                <a16:creationId id="{BC94F09F-18D2-40BA-B6A3-58F54376596D}"/>
              </a:ext>
            </a:extLst>
          </p:cNvPr>
          <p:cNvSpPr>
            <a:spLocks noGrp="1"/>
          </p:cNvSpPr>
          <p:nvPr/>
        </p:nvSpPr>
        <p:spPr>
          <a:xfrm>
            <a:off x="3143250" y="142875"/>
            <a:ext cx="11239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背景与目标</a:t>
            </a:r>
          </a:p>
        </p:txBody>
      </p:sp>
      <p:sp>
        <p:nvSpPr>
          <p:cNvPr id="5" name="导航 · 产品服务">
            <a:extLst>
              <a:ext uri="{FF2B5EF4-FFF2-40B4-BE49-F238E27FC236}">
                <a16:creationId id="{00DF964D-CF0A-4635-AFF3-CD4D4AA613D6}"/>
              </a:ext>
            </a:extLst>
          </p:cNvPr>
          <p:cNvSpPr>
            <a:spLocks noGrp="1"/>
          </p:cNvSpPr>
          <p:nvPr/>
        </p:nvSpPr>
        <p:spPr>
          <a:xfrm>
            <a:off x="4267200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产品服务</a:t>
            </a:r>
          </a:p>
        </p:txBody>
      </p:sp>
      <p:sp>
        <p:nvSpPr>
          <p:cNvPr id="6" name="导航 · 产品特色">
            <a:extLst>
              <a:ext uri="{FF2B5EF4-FFF2-40B4-BE49-F238E27FC236}">
                <a16:creationId id="{0ECF765B-B5E1-4E3E-99E9-8F1788A574F2}"/>
              </a:ext>
            </a:extLst>
          </p:cNvPr>
          <p:cNvSpPr>
            <a:spLocks noGrp="1"/>
          </p:cNvSpPr>
          <p:nvPr/>
        </p:nvSpPr>
        <p:spPr>
          <a:xfrm>
            <a:off x="5191125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1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产品特色</a:t>
            </a:r>
          </a:p>
        </p:txBody>
      </p:sp>
      <p:sp>
        <p:nvSpPr>
          <p:cNvPr id="7" name="导航 · 技术路线">
            <a:extLst>
              <a:ext uri="{FF2B5EF4-FFF2-40B4-BE49-F238E27FC236}">
                <a16:creationId id="{85D22CC4-074D-4708-AC67-DF37B426A1FC}"/>
              </a:ext>
            </a:extLst>
          </p:cNvPr>
          <p:cNvSpPr>
            <a:spLocks noGrp="1"/>
          </p:cNvSpPr>
          <p:nvPr/>
        </p:nvSpPr>
        <p:spPr>
          <a:xfrm>
            <a:off x="6115050" y="142875"/>
            <a:ext cx="923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8" name="导航 · 团队合作展示">
            <a:extLst>
              <a:ext uri="{FF2B5EF4-FFF2-40B4-BE49-F238E27FC236}">
                <a16:creationId id="{BE461896-5760-4809-BD6F-CB95562E0674}"/>
              </a:ext>
            </a:extLst>
          </p:cNvPr>
          <p:cNvSpPr>
            <a:spLocks noGrp="1"/>
          </p:cNvSpPr>
          <p:nvPr/>
        </p:nvSpPr>
        <p:spPr>
          <a:xfrm>
            <a:off x="7038975" y="142875"/>
            <a:ext cx="13049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团队合作展示</a:t>
            </a:r>
          </a:p>
        </p:txBody>
      </p:sp>
      <p:sp>
        <p:nvSpPr>
          <p:cNvPr id="9" name="导航 · 成本模型和可行性分析">
            <a:extLst>
              <a:ext uri="{FF2B5EF4-FFF2-40B4-BE49-F238E27FC236}">
                <a16:creationId id="{D8541A1A-2970-4502-9891-116DFF286250}"/>
              </a:ext>
            </a:extLst>
          </p:cNvPr>
          <p:cNvSpPr>
            <a:spLocks noGrp="1"/>
          </p:cNvSpPr>
          <p:nvPr/>
        </p:nvSpPr>
        <p:spPr>
          <a:xfrm>
            <a:off x="8343900" y="142875"/>
            <a:ext cx="23336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buNone/>
              <a:def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D78"/>
                </a:solidFill>
                <a:latin typeface="Microsoft YaHei"/>
                <a:ea typeface="Microsoft YaHei"/>
                <a:cs typeface="Microsoft YaHei"/>
              </a:rPr>
              <a:t>成本模型和可行性分析</a:t>
            </a:r>
          </a:p>
        </p:txBody>
      </p:sp>
      <p:sp>
        <p:nvSpPr>
          <p:cNvPr id="10" name="当前章节 · 产品特色">
            <a:extLst>
              <a:ext uri="{FF2B5EF4-FFF2-40B4-BE49-F238E27FC236}">
                <a16:creationId id="{CCAA25BB-C4FF-4042-B945-0DFA10749F9C}"/>
              </a:ext>
            </a:extLst>
          </p:cNvPr>
          <p:cNvSpPr>
            <a:spLocks noGrp="1"/>
          </p:cNvSpPr>
          <p:nvPr/>
        </p:nvSpPr>
        <p:spPr>
          <a:xfrm>
            <a:off x="5291138" y="438150"/>
            <a:ext cx="723900" cy="19050"/>
          </a:xfrm>
          <a:prstGeom prst="rect">
            <a:avLst/>
          </a:prstGeom>
          <a:solidFill>
            <a:srgbClr val="1268F6"/>
          </a:solidFill>
          <a:ln w="0"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73227" y="751999"/>
            <a:ext cx="603554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40002" y="751999"/>
            <a:ext cx="2362149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受治理技能学习</a:t>
            </a:r>
          </a:p>
        </p:txBody>
      </p:sp>
      <p:sp>
        <p:nvSpPr>
          <p:cNvPr id="24" name="Line 24"/>
          <p:cNvSpPr/>
          <p:nvPr/>
        </p:nvSpPr>
        <p:spPr>
          <a:xfrm>
            <a:off x="666750" y="1228725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11430">
            <a:solidFill>
              <a:srgbClr val="A8C9D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47700" y="1438275"/>
            <a:ext cx="4819650" cy="1562100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47700" y="3143250"/>
            <a:ext cx="4819650" cy="24288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629275" y="1438275"/>
            <a:ext cx="5905500" cy="4133850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 w="13335">
            <a:solidFill>
              <a:srgbClr val="A8C9DD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11149" y="1573054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sp>
        <p:nvSpPr>
          <p:cNvPr id="29" name="Line 29"/>
          <p:cNvSpPr/>
          <p:nvPr/>
        </p:nvSpPr>
        <p:spPr>
          <a:xfrm>
            <a:off x="819150" y="1847850"/>
            <a:ext cx="4448175" cy="9525"/>
          </a:xfrm>
          <a:custGeom>
            <a:avLst/>
            <a:gdLst/>
            <a:ahLst/>
            <a:cxnLst/>
            <a:rect l="l" t="t" r="r" b="b"/>
            <a:pathLst>
              <a:path w="4448175" h="9525">
                <a:moveTo>
                  <a:pt x="0" y="0"/>
                </a:moveTo>
                <a:lnTo>
                  <a:pt x="4448175" y="0"/>
                </a:lnTo>
              </a:path>
            </a:pathLst>
          </a:custGeom>
          <a:noFill/>
          <a:ln w="9525">
            <a:solidFill>
              <a:srgbClr val="DBE8F1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12292" y="2025968"/>
            <a:ext cx="4011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把成功分析中的方法沉淀为技能，经审核发布后，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2292" y="2311718"/>
            <a:ext cx="36484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在后续问题中检索复用，持续吸收使用反馈。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1149" y="3278029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底层实现</a:t>
            </a:r>
          </a:p>
        </p:txBody>
      </p:sp>
      <p:sp>
        <p:nvSpPr>
          <p:cNvPr id="33" name="Line 33"/>
          <p:cNvSpPr/>
          <p:nvPr/>
        </p:nvSpPr>
        <p:spPr>
          <a:xfrm>
            <a:off x="819150" y="3552825"/>
            <a:ext cx="4448175" cy="9525"/>
          </a:xfrm>
          <a:custGeom>
            <a:avLst/>
            <a:gdLst/>
            <a:ahLst/>
            <a:cxnLst/>
            <a:rect l="l" t="t" r="r" b="b"/>
            <a:pathLst>
              <a:path w="4448175" h="9525">
                <a:moveTo>
                  <a:pt x="0" y="0"/>
                </a:moveTo>
                <a:lnTo>
                  <a:pt x="4448175" y="0"/>
                </a:lnTo>
              </a:path>
            </a:pathLst>
          </a:custGeom>
          <a:noFill/>
          <a:ln w="9525">
            <a:solidFill>
              <a:srgbClr val="DBE8F1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90575" y="367665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75946" y="37471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74432" y="3715941"/>
            <a:ext cx="3540379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经验提取：有帮助或修正反馈形成候选技能。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90575" y="417195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75946" y="42424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74432" y="4211241"/>
            <a:ext cx="3893083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人工治理：审核、发布或停用，保留版本与证据。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90575" y="4667250"/>
            <a:ext cx="276225" cy="276225"/>
          </a:xfrm>
          <a:prstGeom prst="roundRect">
            <a:avLst>
              <a:gd name="adj" fmla="val 24138"/>
            </a:avLst>
          </a:prstGeom>
          <a:solidFill>
            <a:srgbClr val="EAF3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75946" y="47377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74432" y="4706541"/>
            <a:ext cx="3187675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检索复用：词法与语义召回已发布技能，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74432" y="4963716"/>
            <a:ext cx="2305914" cy="2566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1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命中记录回流到下一轮学习。</a:t>
            </a:r>
          </a:p>
        </p:txBody>
      </p:sp>
      <p:sp>
        <p:nvSpPr>
          <p:cNvPr id="44" name="Line 44"/>
          <p:cNvSpPr/>
          <p:nvPr/>
        </p:nvSpPr>
        <p:spPr>
          <a:xfrm>
            <a:off x="685800" y="576262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B2CCDD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805" y="5886450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577D"/>
                </a:solidFill>
                <a:latin typeface="Microsoft YaHei"/>
                <a:ea typeface="Microsoft YaHei"/>
                <a:cs typeface="Microsoft YaHei"/>
              </a:rPr>
              <a:t>让有效分析方法持续积累，同时保留审核与追溯。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887974" y="1582579"/>
            <a:ext cx="21429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运行经验到下一次问析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924550" y="2095500"/>
            <a:ext cx="15430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382">
            <a:solidFill>
              <a:srgbClr val="A8C9DD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298283" y="2332196"/>
            <a:ext cx="79558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分析 Run</a:t>
            </a:r>
          </a:p>
        </p:txBody>
      </p:sp>
      <p:sp>
        <p:nvSpPr>
          <p:cNvPr id="49" name="Rectangle 49"/>
          <p:cNvSpPr/>
          <p:nvPr/>
        </p:nvSpPr>
        <p:spPr>
          <a:xfrm>
            <a:off x="7858125" y="2095500"/>
            <a:ext cx="15430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382">
            <a:solidFill>
              <a:srgbClr val="A8C9DD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240090" y="2332196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51" name="Rectangle 51"/>
          <p:cNvSpPr/>
          <p:nvPr/>
        </p:nvSpPr>
        <p:spPr>
          <a:xfrm>
            <a:off x="9791700" y="2095500"/>
            <a:ext cx="15430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382">
            <a:solidFill>
              <a:srgbClr val="A8C9DD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0173665" y="2332196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候选技能</a:t>
            </a:r>
          </a:p>
        </p:txBody>
      </p:sp>
      <p:sp>
        <p:nvSpPr>
          <p:cNvPr id="53" name="Rectangle 53"/>
          <p:cNvSpPr/>
          <p:nvPr/>
        </p:nvSpPr>
        <p:spPr>
          <a:xfrm>
            <a:off x="9791700" y="3648075"/>
            <a:ext cx="1543050" cy="628650"/>
          </a:xfrm>
          <a:prstGeom prst="roundRect">
            <a:avLst>
              <a:gd name="adj" fmla="val 18182"/>
            </a:avLst>
          </a:prstGeom>
          <a:solidFill>
            <a:srgbClr val="EAF3FF"/>
          </a:solidFill>
          <a:ln w="17145">
            <a:solidFill>
              <a:srgbClr val="1268F6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10173665" y="388477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1268F6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</p:txBody>
      </p:sp>
      <p:sp>
        <p:nvSpPr>
          <p:cNvPr id="55" name="Rectangle 55"/>
          <p:cNvSpPr/>
          <p:nvPr/>
        </p:nvSpPr>
        <p:spPr>
          <a:xfrm>
            <a:off x="7858125" y="3648075"/>
            <a:ext cx="15430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382">
            <a:solidFill>
              <a:srgbClr val="A8C9DD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8144510" y="3884771"/>
            <a:ext cx="970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发布与索引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924550" y="3648075"/>
            <a:ext cx="15430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382">
            <a:solidFill>
              <a:srgbClr val="A8C9DD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06515" y="388477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检索复用</a:t>
            </a:r>
          </a:p>
        </p:txBody>
      </p:sp>
      <p:sp>
        <p:nvSpPr>
          <p:cNvPr id="59" name="Line 59"/>
          <p:cNvSpPr/>
          <p:nvPr/>
        </p:nvSpPr>
        <p:spPr>
          <a:xfrm>
            <a:off x="7467600" y="2409825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0002">
            <a:solidFill>
              <a:srgbClr val="1268F6"/>
            </a:solidFill>
          </a:ln>
        </p:spPr>
      </p:sp>
      <p:sp>
        <p:nvSpPr>
          <p:cNvPr id="60" name="Polygon 60"/>
          <p:cNvSpPr/>
          <p:nvPr/>
        </p:nvSpPr>
        <p:spPr>
          <a:xfrm>
            <a:off x="7715250" y="2362200"/>
            <a:ext cx="85725" cy="95250"/>
          </a:xfrm>
          <a:custGeom>
            <a:avLst/>
            <a:gdLst/>
            <a:ahLst/>
            <a:cxnLst/>
            <a:rect l="l" t="t" r="r" b="b"/>
            <a:pathLst>
              <a:path w="85725" h="95250">
                <a:moveTo>
                  <a:pt x="8572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268F6"/>
          </a:solidFill>
          <a:ln>
            <a:noFill/>
          </a:ln>
        </p:spPr>
      </p:sp>
      <p:sp>
        <p:nvSpPr>
          <p:cNvPr id="61" name="Line 61"/>
          <p:cNvSpPr/>
          <p:nvPr/>
        </p:nvSpPr>
        <p:spPr>
          <a:xfrm>
            <a:off x="9401175" y="2409825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0002">
            <a:solidFill>
              <a:srgbClr val="1268F6"/>
            </a:solidFill>
          </a:ln>
        </p:spPr>
      </p:sp>
      <p:sp>
        <p:nvSpPr>
          <p:cNvPr id="62" name="Polygon 62"/>
          <p:cNvSpPr/>
          <p:nvPr/>
        </p:nvSpPr>
        <p:spPr>
          <a:xfrm>
            <a:off x="9648825" y="2362200"/>
            <a:ext cx="85725" cy="95250"/>
          </a:xfrm>
          <a:custGeom>
            <a:avLst/>
            <a:gdLst/>
            <a:ahLst/>
            <a:cxnLst/>
            <a:rect l="l" t="t" r="r" b="b"/>
            <a:pathLst>
              <a:path w="85725" h="95250">
                <a:moveTo>
                  <a:pt x="8572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268F6"/>
          </a:solidFill>
          <a:ln>
            <a:noFill/>
          </a:ln>
        </p:spPr>
      </p:sp>
      <p:sp>
        <p:nvSpPr>
          <p:cNvPr id="63" name="Line 63"/>
          <p:cNvSpPr/>
          <p:nvPr/>
        </p:nvSpPr>
        <p:spPr>
          <a:xfrm>
            <a:off x="10563225" y="2724150"/>
            <a:ext cx="9525" cy="866775"/>
          </a:xfrm>
          <a:custGeom>
            <a:avLst/>
            <a:gdLst/>
            <a:ahLst/>
            <a:cxnLst/>
            <a:rect l="l" t="t" r="r" b="b"/>
            <a:pathLst>
              <a:path w="9525" h="866775">
                <a:moveTo>
                  <a:pt x="0" y="0"/>
                </a:moveTo>
                <a:lnTo>
                  <a:pt x="0" y="866775"/>
                </a:lnTo>
              </a:path>
            </a:pathLst>
          </a:custGeom>
          <a:noFill/>
          <a:ln w="20002">
            <a:solidFill>
              <a:srgbClr val="1268F6"/>
            </a:solidFill>
          </a:ln>
        </p:spPr>
      </p:sp>
      <p:sp>
        <p:nvSpPr>
          <p:cNvPr id="64" name="Polygon 64"/>
          <p:cNvSpPr/>
          <p:nvPr/>
        </p:nvSpPr>
        <p:spPr>
          <a:xfrm>
            <a:off x="10515600" y="3505200"/>
            <a:ext cx="95250" cy="85725"/>
          </a:xfrm>
          <a:custGeom>
            <a:avLst/>
            <a:gdLst/>
            <a:ahLst/>
            <a:cxnLst/>
            <a:rect l="l" t="t" r="r" b="b"/>
            <a:pathLst>
              <a:path w="95250" h="85725">
                <a:moveTo>
                  <a:pt x="47625" y="8572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1268F6"/>
          </a:solidFill>
          <a:ln>
            <a:noFill/>
          </a:ln>
        </p:spPr>
      </p:sp>
      <p:sp>
        <p:nvSpPr>
          <p:cNvPr id="65" name="Line 65"/>
          <p:cNvSpPr/>
          <p:nvPr/>
        </p:nvSpPr>
        <p:spPr>
          <a:xfrm>
            <a:off x="9458325" y="3962400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333375" y="0"/>
                </a:moveTo>
                <a:lnTo>
                  <a:pt x="0" y="0"/>
                </a:lnTo>
              </a:path>
            </a:pathLst>
          </a:custGeom>
          <a:noFill/>
          <a:ln w="20002">
            <a:solidFill>
              <a:srgbClr val="1268F6"/>
            </a:solidFill>
          </a:ln>
        </p:spPr>
      </p:sp>
      <p:sp>
        <p:nvSpPr>
          <p:cNvPr id="66" name="Polygon 66"/>
          <p:cNvSpPr/>
          <p:nvPr/>
        </p:nvSpPr>
        <p:spPr>
          <a:xfrm>
            <a:off x="9458325" y="3914775"/>
            <a:ext cx="85725" cy="95250"/>
          </a:xfrm>
          <a:custGeom>
            <a:avLst/>
            <a:gdLst/>
            <a:ahLst/>
            <a:cxnLst/>
            <a:rect l="l" t="t" r="r" b="b"/>
            <a:pathLst>
              <a:path w="85725" h="95250">
                <a:moveTo>
                  <a:pt x="0" y="47625"/>
                </a:moveTo>
                <a:lnTo>
                  <a:pt x="85725" y="0"/>
                </a:lnTo>
                <a:lnTo>
                  <a:pt x="85725" y="95250"/>
                </a:lnTo>
                <a:close/>
              </a:path>
            </a:pathLst>
          </a:custGeom>
          <a:solidFill>
            <a:srgbClr val="1268F6"/>
          </a:solidFill>
          <a:ln>
            <a:noFill/>
          </a:ln>
        </p:spPr>
      </p:sp>
      <p:sp>
        <p:nvSpPr>
          <p:cNvPr id="67" name="Line 67"/>
          <p:cNvSpPr/>
          <p:nvPr/>
        </p:nvSpPr>
        <p:spPr>
          <a:xfrm>
            <a:off x="7524750" y="3962400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333375" y="0"/>
                </a:moveTo>
                <a:lnTo>
                  <a:pt x="0" y="0"/>
                </a:lnTo>
              </a:path>
            </a:pathLst>
          </a:custGeom>
          <a:noFill/>
          <a:ln w="20002">
            <a:solidFill>
              <a:srgbClr val="1268F6"/>
            </a:solidFill>
          </a:ln>
        </p:spPr>
      </p:sp>
      <p:sp>
        <p:nvSpPr>
          <p:cNvPr id="68" name="Polygon 68"/>
          <p:cNvSpPr/>
          <p:nvPr/>
        </p:nvSpPr>
        <p:spPr>
          <a:xfrm>
            <a:off x="7524750" y="3914775"/>
            <a:ext cx="85725" cy="95250"/>
          </a:xfrm>
          <a:custGeom>
            <a:avLst/>
            <a:gdLst/>
            <a:ahLst/>
            <a:cxnLst/>
            <a:rect l="l" t="t" r="r" b="b"/>
            <a:pathLst>
              <a:path w="85725" h="95250">
                <a:moveTo>
                  <a:pt x="0" y="47625"/>
                </a:moveTo>
                <a:lnTo>
                  <a:pt x="85725" y="0"/>
                </a:lnTo>
                <a:lnTo>
                  <a:pt x="85725" y="95250"/>
                </a:lnTo>
                <a:close/>
              </a:path>
            </a:pathLst>
          </a:custGeom>
          <a:solidFill>
            <a:srgbClr val="1268F6"/>
          </a:solidFill>
          <a:ln>
            <a:noFill/>
          </a:ln>
        </p:spPr>
      </p:sp>
      <p:sp>
        <p:nvSpPr>
          <p:cNvPr id="69" name="Freeform 69"/>
          <p:cNvSpPr/>
          <p:nvPr/>
        </p:nvSpPr>
        <p:spPr>
          <a:xfrm>
            <a:off x="5800725" y="2409825"/>
            <a:ext cx="104775" cy="1552575"/>
          </a:xfrm>
          <a:custGeom>
            <a:avLst/>
            <a:gdLst/>
            <a:ahLst/>
            <a:cxnLst/>
            <a:rect l="l" t="t" r="r" b="b"/>
            <a:pathLst>
              <a:path w="104775" h="1552575">
                <a:moveTo>
                  <a:pt x="104775" y="1552575"/>
                </a:moveTo>
                <a:lnTo>
                  <a:pt x="0" y="1552575"/>
                </a:lnTo>
                <a:lnTo>
                  <a:pt x="0" y="0"/>
                </a:lnTo>
                <a:lnTo>
                  <a:pt x="66675" y="0"/>
                </a:lnTo>
              </a:path>
            </a:pathLst>
          </a:custGeom>
          <a:noFill/>
          <a:ln w="20002">
            <a:solidFill>
              <a:srgbClr val="1268F6"/>
            </a:solidFill>
          </a:ln>
        </p:spPr>
      </p:sp>
      <p:sp>
        <p:nvSpPr>
          <p:cNvPr id="70" name="Polygon 70"/>
          <p:cNvSpPr/>
          <p:nvPr/>
        </p:nvSpPr>
        <p:spPr>
          <a:xfrm>
            <a:off x="5838825" y="2362200"/>
            <a:ext cx="85725" cy="95250"/>
          </a:xfrm>
          <a:custGeom>
            <a:avLst/>
            <a:gdLst/>
            <a:ahLst/>
            <a:cxnLst/>
            <a:rect l="l" t="t" r="r" b="b"/>
            <a:pathLst>
              <a:path w="85725" h="95250">
                <a:moveTo>
                  <a:pt x="8572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268F6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5899404" y="5013960"/>
            <a:ext cx="37277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36678"/>
                </a:solidFill>
                <a:latin typeface="Microsoft YaHei"/>
                <a:ea typeface="Microsoft YaHei"/>
                <a:cs typeface="Microsoft YaHei"/>
              </a:rPr>
              <a:t>技能只优化分析方法，不扩大用户的数据访问权限。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900166" y="5277802"/>
            <a:ext cx="3627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36678"/>
                </a:solidFill>
                <a:latin typeface="Microsoft YaHei"/>
                <a:ea typeface="Microsoft YaHei"/>
                <a:cs typeface="Microsoft YaHei"/>
              </a:rPr>
              <a:t>每次查询仍受数据范围、表白名单和 SQL 安全校验约束。</a:t>
            </a:r>
          </a:p>
        </p:txBody>
      </p:sp>
    </p:spTree>
    <p:extLst>
      <p:ext uri="{BB962C8B-B14F-4D97-AF65-F5344CB8AC3E}">
        <p14:creationId val="11482428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26</ns0:TotalTime>
  <ns0:Words>207</ns0:Words>
  <ns0:Application>Microsoft Office PowerPoint</ns0:Application>
  <ns0:DocSecurity>0</ns0:DocSecurity>
  <ns0:PresentationFormat>宽屏</ns0:PresentationFormat>
  <ns0:Paragraphs>95</ns0:Paragraphs>
  <ns0:Slides>3</ns0:Slides>
  <ns0:Notes>14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4</ns1:i4>
      </ns1:variant>
      <ns1:variant>
        <ns1:lpstr>主题</ns1:lpstr>
      </ns1:variant>
      <ns1:variant>
        <ns1:i4>3</ns1:i4>
      </ns1:variant>
      <ns1:variant>
        <ns1:lpstr>幻灯片标题</ns1:lpstr>
      </ns1:variant>
      <ns1:variant>
        <ns1:i4>14</ns1:i4>
      </ns1:variant>
    </ns1:vector>
  </ns0:HeadingPairs>
  <ns0:TitlesOfParts>
    <ns1:vector size="21" baseType="lpstr">
      <ns1:lpstr>南宋书局体</ns1:lpstr>
      <ns1:lpstr>Microsoft YaHei</ns1:lpstr>
      <ns1:lpstr>演示流云楷</ns1:lpstr>
      <ns1:lpstr>Calibri</ns1:lpstr>
      <ns1:lpstr>ChatGPT</ns1:lpstr>
      <ns1:lpstr>ChatGPT</ns1:lpstr>
      <ns1:lpstr>ChatGPT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泓汀 陆</cp:lastModifiedBy>
  <cp:revision>5</cp:revision>
  <dcterms:created xsi:type="dcterms:W3CDTF">2026-09-17T16:28:09Z</dcterms:created>
  <dcterms:modified xsi:type="dcterms:W3CDTF">2026-09-18T00:36:47Z</dcterms:modified>
</cp:coreProperties>
</file>